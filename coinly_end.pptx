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11"/>
    <p:restoredTop sz="94656"/>
  </p:normalViewPr>
  <p:slideViewPr>
    <p:cSldViewPr snapToGrid="0" snapToObjects="1">
      <p:cViewPr varScale="1">
        <p:scale>
          <a:sx n="64" d="100"/>
          <a:sy n="64" d="100"/>
        </p:scale>
        <p:origin x="168" y="1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987" y="270165"/>
            <a:ext cx="7343078" cy="2899063"/>
          </a:xfrm>
          <a:ln>
            <a:noFill/>
          </a:ln>
        </p:spPr>
        <p:txBody>
          <a:bodyPr>
            <a:normAutofit/>
          </a:bodyPr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lang="en" sz="9600" b="1" dirty="0" err="1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Coinly</a:t>
            </a:r>
            <a:endParaRPr lang="en" sz="9600" b="1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3389" y="2743201"/>
            <a:ext cx="6546273" cy="2410521"/>
          </a:xfrm>
          <a:ln>
            <a:noFill/>
          </a:ln>
        </p:spPr>
        <p:txBody>
          <a:bodyPr>
            <a:normAutofit/>
          </a:bodyPr>
          <a:lstStyle/>
          <a:p>
            <a:pPr>
              <a:defRPr sz="2200">
                <a:solidFill>
                  <a:srgbClr val="3C285A"/>
                </a:solidFill>
              </a:defRPr>
            </a:pPr>
            <a:r>
              <a:rPr sz="4800" b="1" dirty="0" err="1"/>
              <a:t>Приложение</a:t>
            </a:r>
            <a:r>
              <a:rPr sz="4800" b="1" dirty="0"/>
              <a:t> </a:t>
            </a:r>
            <a:r>
              <a:rPr sz="4800" b="1" dirty="0" err="1"/>
              <a:t>для</a:t>
            </a:r>
            <a:r>
              <a:rPr sz="4800" b="1" dirty="0"/>
              <a:t> </a:t>
            </a:r>
            <a:r>
              <a:rPr sz="4800" b="1" dirty="0" err="1"/>
              <a:t>учёта</a:t>
            </a:r>
            <a:r>
              <a:rPr sz="4800" b="1" dirty="0"/>
              <a:t> </a:t>
            </a:r>
            <a:r>
              <a:rPr sz="4800" b="1" dirty="0" err="1"/>
              <a:t>личных</a:t>
            </a:r>
            <a:r>
              <a:rPr sz="4800" b="1" dirty="0"/>
              <a:t> </a:t>
            </a:r>
            <a:r>
              <a:rPr sz="4800" b="1" dirty="0" err="1"/>
              <a:t>финансов</a:t>
            </a:r>
            <a:endParaRPr sz="4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52D5C-98C2-900C-9544-DD913C4FBBF6}"/>
              </a:ext>
            </a:extLst>
          </p:cNvPr>
          <p:cNvSpPr txBox="1"/>
          <p:nvPr/>
        </p:nvSpPr>
        <p:spPr>
          <a:xfrm>
            <a:off x="2995684" y="4718934"/>
            <a:ext cx="2861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Исаакян </a:t>
            </a:r>
            <a:r>
              <a:rPr lang="ru-RU" sz="1800" b="1" dirty="0" err="1"/>
              <a:t>Нарине</a:t>
            </a:r>
            <a:r>
              <a:rPr lang="ru-RU" sz="1800" b="1" dirty="0"/>
              <a:t>, 411ИС-22</a:t>
            </a:r>
          </a:p>
          <a:p>
            <a:r>
              <a:rPr lang="ru-RU" sz="1800" b="1" dirty="0"/>
              <a:t>Руководитель: Кусков Ф.В.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573D0-73FB-82B7-36D0-D40A3CAE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6256"/>
            <a:ext cx="8229600" cy="662622"/>
          </a:xfrm>
        </p:spPr>
        <p:txBody>
          <a:bodyPr>
            <a:normAutofit fontScale="90000"/>
          </a:bodyPr>
          <a:lstStyle/>
          <a:p>
            <a:r>
              <a:rPr lang="ru-RU" sz="4400" b="1" i="0" u="none" strike="noStrike" dirty="0">
                <a:solidFill>
                  <a:schemeClr val="accent4"/>
                </a:solidFill>
                <a:effectLst/>
              </a:rPr>
              <a:t>План проекта</a:t>
            </a:r>
            <a:br>
              <a:rPr lang="ru-RU" sz="4400" b="0" i="0" u="none" strike="noStrike" dirty="0">
                <a:solidFill>
                  <a:schemeClr val="accent4"/>
                </a:solidFill>
                <a:effectLst/>
              </a:rPr>
            </a:b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7F1AE9-AFA3-4C96-8EAC-A5CA1230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45" y="1050333"/>
            <a:ext cx="8229600" cy="6149182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Анализ предметной области и постановка задачи</a:t>
            </a:r>
            <a:endParaRPr lang="ru-RU" sz="20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Исследование существующих решений для учета личных финансов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Определение целевой аудитории и их потребностей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Формулировка функциональных и нефункциональных требований</a:t>
            </a:r>
          </a:p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Проектирование архитектуры приложения</a:t>
            </a:r>
            <a:endParaRPr lang="ru-RU" sz="20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Выбор технологического стека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Проектирование базы данных и структуры данных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Разработка </a:t>
            </a:r>
            <a:r>
              <a:rPr lang="en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UML-</a:t>
            </a: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диаграмм и прототипов интерфейса</a:t>
            </a:r>
          </a:p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Реализация базового функционала</a:t>
            </a:r>
            <a:endParaRPr lang="ru-RU" sz="20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Настройка проекта в </a:t>
            </a:r>
            <a:r>
              <a:rPr lang="en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Android Studio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Реализация системы аутентификации и регистрации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Разработка модуля учета доходов и расходов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Создание системы категорий</a:t>
            </a:r>
            <a:endParaRPr lang="ru-RU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74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47601-DB23-A343-A14D-0F9D6AF8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i="0" u="none" strike="noStrike" dirty="0">
                <a:solidFill>
                  <a:schemeClr val="accent4"/>
                </a:solidFill>
                <a:effectLst/>
              </a:rPr>
              <a:t>План проекта</a:t>
            </a:r>
            <a:br>
              <a:rPr lang="ru-RU" sz="4400" b="0" i="0" u="none" strike="noStrike" dirty="0">
                <a:solidFill>
                  <a:schemeClr val="accent4"/>
                </a:solidFill>
                <a:effectLst/>
              </a:rPr>
            </a:b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C44AD4-7671-3E57-D718-717882B56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5063173"/>
          </a:xfrm>
        </p:spPr>
        <p:txBody>
          <a:bodyPr>
            <a:noAutofit/>
          </a:bodyPr>
          <a:lstStyle/>
          <a:p>
            <a:pPr marL="742950" lvl="1" indent="-285750" algn="l">
              <a:buFont typeface="+mj-lt"/>
              <a:buAutoNum type="arabicPeriod"/>
            </a:pPr>
            <a:endParaRPr lang="ru-RU" sz="22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Реализация дополнительных функций</a:t>
            </a:r>
            <a:endParaRPr lang="ru-RU" sz="22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Разработка модуля финансовых целей</a:t>
            </a: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Интеграция системы аналитики и визуализации данных</a:t>
            </a: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Реализация темной/светлой темы</a:t>
            </a: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Добавление функции экспорта данных</a:t>
            </a: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Тестирование и отладка</a:t>
            </a:r>
            <a:endParaRPr lang="ru-RU" sz="22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Модульное тестирование компонентов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Тестирование пользовательского интерфейса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Исправление ошибок и оптимизация производительности</a:t>
            </a: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Документирование проекта</a:t>
            </a:r>
            <a:endParaRPr lang="ru-RU" sz="22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Написание пользовательской инструкции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Подготовка презентации и демонстрационных материалов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accent4">
                    <a:lumMod val="50000"/>
                  </a:schemeClr>
                </a:solidFill>
                <a:effectLst/>
              </a:rPr>
              <a:t>Оформление технической документации</a:t>
            </a:r>
          </a:p>
          <a:p>
            <a:endParaRPr lang="ru-RU" sz="22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23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t>Идея и 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>
                <a:solidFill>
                  <a:srgbClr val="F0F0F0"/>
                </a:solidFill>
              </a:defRPr>
            </a:pPr>
            <a:r>
              <a:rPr lang="ru-RU" dirty="0">
                <a:solidFill>
                  <a:srgbClr val="002060"/>
                </a:solidFill>
              </a:rPr>
              <a:t>Основная идея </a:t>
            </a:r>
            <a:r>
              <a:rPr lang="en" dirty="0" err="1">
                <a:solidFill>
                  <a:srgbClr val="002060"/>
                </a:solidFill>
              </a:rPr>
              <a:t>Coinly</a:t>
            </a:r>
            <a:r>
              <a:rPr lang="en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заключается в создании удобной, понятной и функциональной среды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для ведения финансов. Приложение помогает пользователю формировать финансовую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дисциплину, анализировать структуру расходов, рационально распределять средства и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достигать поставленных финансовых целей. </a:t>
            </a:r>
            <a:r>
              <a:rPr lang="en" dirty="0" err="1">
                <a:solidFill>
                  <a:srgbClr val="002060"/>
                </a:solidFill>
              </a:rPr>
              <a:t>Coinly</a:t>
            </a:r>
            <a:r>
              <a:rPr lang="en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ориентирован на молодых пользователей, ценящих мобильность, простоту интерфейса и аналитическую силу.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967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функционал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500">
                <a:solidFill>
                  <a:srgbClr val="F0F0F0"/>
                </a:solidFill>
              </a:defRPr>
            </a:pPr>
            <a:r>
              <a:rPr lang="ru-RU" dirty="0">
                <a:solidFill>
                  <a:srgbClr val="002060"/>
                </a:solidFill>
              </a:rPr>
              <a:t>• Добавление доходов и расходов с привязкой к категориям.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Интерактивные финансовые цели с динамическим отслеживанием прогресса.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Просмотр общей финансовой картины: баланс, доходы, расходы, прогресс трат.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Аналитика через </a:t>
            </a:r>
            <a:r>
              <a:rPr lang="en" dirty="0" err="1">
                <a:solidFill>
                  <a:srgbClr val="002060"/>
                </a:solidFill>
              </a:rPr>
              <a:t>PieChart</a:t>
            </a:r>
            <a:r>
              <a:rPr lang="en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с процентами и суммами по категориям.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Тёмная и светлая темы, журнал операций, экспорт данных в </a:t>
            </a:r>
            <a:r>
              <a:rPr lang="en" dirty="0">
                <a:solidFill>
                  <a:srgbClr val="002060"/>
                </a:solidFill>
              </a:rPr>
              <a:t>PDF.</a:t>
            </a:r>
            <a:br>
              <a:rPr lang="en" dirty="0">
                <a:solidFill>
                  <a:srgbClr val="002060"/>
                </a:solidFill>
              </a:rPr>
            </a:br>
            <a:r>
              <a:rPr lang="en" dirty="0">
                <a:solidFill>
                  <a:srgbClr val="002060"/>
                </a:solidFill>
              </a:rPr>
              <a:t>• </a:t>
            </a:r>
            <a:r>
              <a:rPr lang="ru-RU" dirty="0">
                <a:solidFill>
                  <a:srgbClr val="002060"/>
                </a:solidFill>
              </a:rPr>
              <a:t>Гибкость управления категориями: встроенные и пользовательские.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967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t>Архитектура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285A"/>
                </a:solidFill>
              </a:defRPr>
            </a:pPr>
            <a:r>
              <a:rPr lang="ru-RU" dirty="0"/>
              <a:t>Проект основан на </a:t>
            </a:r>
            <a:r>
              <a:rPr lang="en" dirty="0"/>
              <a:t>view-</a:t>
            </a:r>
            <a:r>
              <a:rPr lang="ru-RU" dirty="0"/>
              <a:t>ориентированной архитектуре, где логика расположена на уровне</a:t>
            </a:r>
          </a:p>
          <a:p>
            <a:pPr>
              <a:defRPr sz="2200">
                <a:solidFill>
                  <a:srgbClr val="3C285A"/>
                </a:solidFill>
              </a:defRPr>
            </a:pPr>
            <a:r>
              <a:rPr lang="ru-RU" dirty="0"/>
              <a:t>Фрагментов. </a:t>
            </a:r>
            <a:r>
              <a:rPr lang="en" dirty="0"/>
              <a:t>Navigation Component </a:t>
            </a:r>
            <a:r>
              <a:rPr lang="ru-RU" dirty="0"/>
              <a:t>обеспечивает маршрутизацию между экранами.</a:t>
            </a:r>
          </a:p>
          <a:p>
            <a:pPr>
              <a:defRPr sz="2200">
                <a:solidFill>
                  <a:srgbClr val="3C285A"/>
                </a:solidFill>
              </a:defRPr>
            </a:pPr>
            <a:r>
              <a:rPr lang="ru-RU" dirty="0"/>
              <a:t>Данные хранятся локально в </a:t>
            </a:r>
            <a:r>
              <a:rPr lang="en" dirty="0"/>
              <a:t>SQLite, </a:t>
            </a:r>
            <a:r>
              <a:rPr lang="ru-RU" dirty="0"/>
              <a:t>доступ осуществляется через </a:t>
            </a:r>
            <a:r>
              <a:rPr lang="ru-RU" dirty="0" err="1"/>
              <a:t>кастомный</a:t>
            </a:r>
            <a:r>
              <a:rPr lang="ru-RU" dirty="0"/>
              <a:t> </a:t>
            </a:r>
            <a:r>
              <a:rPr lang="en" dirty="0" err="1"/>
              <a:t>DBHelper</a:t>
            </a:r>
            <a:r>
              <a:rPr lang="en" dirty="0"/>
              <a:t>.</a:t>
            </a:r>
            <a:endParaRPr lang="ru-RU" dirty="0"/>
          </a:p>
          <a:p>
            <a:pPr>
              <a:defRPr sz="2200">
                <a:solidFill>
                  <a:srgbClr val="3C285A"/>
                </a:solidFill>
              </a:defRPr>
            </a:pPr>
            <a:r>
              <a:rPr lang="en" dirty="0"/>
              <a:t>Kotlin Coroutines </a:t>
            </a:r>
            <a:r>
              <a:rPr lang="ru-RU" dirty="0"/>
              <a:t>обрабатывают длительные операции (экспорт </a:t>
            </a:r>
            <a:r>
              <a:rPr lang="en" dirty="0"/>
              <a:t>PDF, </a:t>
            </a:r>
            <a:r>
              <a:rPr lang="ru-RU" dirty="0"/>
              <a:t>загрузка данных), обеспечивая плавность интерфейса. </a:t>
            </a:r>
          </a:p>
          <a:p>
            <a:pPr>
              <a:defRPr sz="2200">
                <a:solidFill>
                  <a:srgbClr val="3C285A"/>
                </a:solidFill>
              </a:defRPr>
            </a:pPr>
            <a:r>
              <a:rPr lang="en" dirty="0"/>
              <a:t>UI </a:t>
            </a:r>
            <a:r>
              <a:rPr lang="ru-RU" dirty="0"/>
              <a:t>создаётся с использованием </a:t>
            </a:r>
            <a:r>
              <a:rPr lang="en" dirty="0"/>
              <a:t>Material Design,</a:t>
            </a:r>
            <a:br>
              <a:rPr lang="en" dirty="0"/>
            </a:br>
            <a:r>
              <a:rPr lang="en" dirty="0" err="1"/>
              <a:t>CardView</a:t>
            </a:r>
            <a:r>
              <a:rPr lang="en" dirty="0"/>
              <a:t> </a:t>
            </a:r>
            <a:r>
              <a:rPr lang="ru-RU" dirty="0"/>
              <a:t>и </a:t>
            </a:r>
            <a:r>
              <a:rPr lang="en" dirty="0" err="1"/>
              <a:t>RecyclerView</a:t>
            </a:r>
            <a:r>
              <a:rPr lang="en" dirty="0"/>
              <a:t> </a:t>
            </a:r>
            <a:r>
              <a:rPr lang="ru-RU" dirty="0"/>
              <a:t>для динамических списков.</a:t>
            </a:r>
          </a:p>
          <a:p>
            <a:pPr>
              <a:defRPr sz="2200">
                <a:solidFill>
                  <a:srgbClr val="3C285A"/>
                </a:solidFill>
              </a:defRPr>
            </a:pPr>
            <a:endParaRPr lang="en" dirty="0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967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t>Используемые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>
                <a:solidFill>
                  <a:srgbClr val="F0F0F0"/>
                </a:solidFill>
              </a:defRPr>
            </a:pPr>
            <a:r>
              <a:rPr lang="en" dirty="0">
                <a:solidFill>
                  <a:srgbClr val="002060"/>
                </a:solidFill>
              </a:rPr>
              <a:t>• Kotlin + Android Studio — </a:t>
            </a:r>
            <a:r>
              <a:rPr lang="ru-RU" dirty="0">
                <a:solidFill>
                  <a:srgbClr val="002060"/>
                </a:solidFill>
              </a:rPr>
              <a:t>основной стек разработки.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</a:t>
            </a:r>
            <a:r>
              <a:rPr lang="en" dirty="0">
                <a:solidFill>
                  <a:srgbClr val="002060"/>
                </a:solidFill>
              </a:rPr>
              <a:t>SQLite — </a:t>
            </a:r>
            <a:r>
              <a:rPr lang="ru-RU" dirty="0">
                <a:solidFill>
                  <a:srgbClr val="002060"/>
                </a:solidFill>
              </a:rPr>
              <a:t>локальное хранение данных с минимальными задержками.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</a:t>
            </a:r>
            <a:r>
              <a:rPr lang="en" dirty="0" err="1">
                <a:solidFill>
                  <a:srgbClr val="002060"/>
                </a:solidFill>
              </a:rPr>
              <a:t>MPAndroidChart</a:t>
            </a:r>
            <a:r>
              <a:rPr lang="en" dirty="0">
                <a:solidFill>
                  <a:srgbClr val="002060"/>
                </a:solidFill>
              </a:rPr>
              <a:t> — </a:t>
            </a:r>
            <a:r>
              <a:rPr lang="ru-RU" dirty="0">
                <a:solidFill>
                  <a:srgbClr val="002060"/>
                </a:solidFill>
              </a:rPr>
              <a:t>визуализация аналитики через диаграммы.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</a:t>
            </a:r>
            <a:r>
              <a:rPr lang="en" dirty="0">
                <a:solidFill>
                  <a:srgbClr val="002060"/>
                </a:solidFill>
              </a:rPr>
              <a:t>Material Design — </a:t>
            </a:r>
            <a:r>
              <a:rPr lang="ru-RU" dirty="0">
                <a:solidFill>
                  <a:srgbClr val="002060"/>
                </a:solidFill>
              </a:rPr>
              <a:t>удобная и современная структура интерфейса.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</a:t>
            </a:r>
            <a:r>
              <a:rPr lang="en" dirty="0">
                <a:solidFill>
                  <a:srgbClr val="002060"/>
                </a:solidFill>
              </a:rPr>
              <a:t>Navigation Component — </a:t>
            </a:r>
            <a:r>
              <a:rPr lang="ru-RU" dirty="0">
                <a:solidFill>
                  <a:srgbClr val="002060"/>
                </a:solidFill>
              </a:rPr>
              <a:t>безопасная и предсказуемая навигация.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</a:t>
            </a:r>
            <a:r>
              <a:rPr lang="en" dirty="0">
                <a:solidFill>
                  <a:srgbClr val="002060"/>
                </a:solidFill>
              </a:rPr>
              <a:t>GitHub — </a:t>
            </a:r>
            <a:r>
              <a:rPr lang="ru-RU" dirty="0">
                <a:solidFill>
                  <a:srgbClr val="002060"/>
                </a:solidFill>
              </a:rPr>
              <a:t>контроль версий и ведение проекта.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967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3238" y="182880"/>
            <a:ext cx="6276110" cy="1738746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lang="ru-RU" sz="4800" dirty="0"/>
              <a:t>Демонстрация приложения</a:t>
            </a:r>
            <a:endParaRPr sz="4800" dirty="0"/>
          </a:p>
        </p:txBody>
      </p:sp>
      <p:sp>
        <p:nvSpPr>
          <p:cNvPr id="4" name="Rectangle 3"/>
          <p:cNvSpPr/>
          <p:nvPr/>
        </p:nvSpPr>
        <p:spPr>
          <a:xfrm flipV="1">
            <a:off x="0" y="1921625"/>
            <a:ext cx="6012872" cy="45719"/>
          </a:xfrm>
          <a:prstGeom prst="rect">
            <a:avLst/>
          </a:prstGeom>
          <a:solidFill>
            <a:srgbClr val="967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00402-FB4B-4B5E-7CAA-67E0D35EC831}"/>
              </a:ext>
            </a:extLst>
          </p:cNvPr>
          <p:cNvSpPr txBox="1"/>
          <p:nvPr/>
        </p:nvSpPr>
        <p:spPr>
          <a:xfrm>
            <a:off x="1357746" y="3176847"/>
            <a:ext cx="43364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8800" b="1" dirty="0" err="1">
                <a:solidFill>
                  <a:schemeClr val="accent4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Coinly</a:t>
            </a:r>
            <a:endParaRPr lang="ru-RU" sz="8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BAD40-9DAF-842A-DA39-25B022E538E1}"/>
              </a:ext>
            </a:extLst>
          </p:cNvPr>
          <p:cNvSpPr txBox="1"/>
          <p:nvPr/>
        </p:nvSpPr>
        <p:spPr>
          <a:xfrm>
            <a:off x="4214191" y="2387429"/>
            <a:ext cx="4558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тут видео,</a:t>
            </a:r>
            <a:r>
              <a:rPr lang="en-US" dirty="0"/>
              <a:t> </a:t>
            </a:r>
            <a:r>
              <a:rPr lang="en-US" dirty="0" err="1"/>
              <a:t>н</a:t>
            </a:r>
            <a:r>
              <a:rPr lang="ru-RU" dirty="0"/>
              <a:t>е помещается(я покажу на паре)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t>Планы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>
                <a:solidFill>
                  <a:srgbClr val="F0F0F0"/>
                </a:solidFill>
              </a:defRPr>
            </a:pPr>
            <a:r>
              <a:rPr lang="ru-RU" dirty="0">
                <a:solidFill>
                  <a:srgbClr val="002060"/>
                </a:solidFill>
              </a:rPr>
              <a:t>• Автоматическая генерация итогов месяца.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Более глубокая аналитика и рекомендации по улучшению бюджета.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Интеграция </a:t>
            </a:r>
            <a:r>
              <a:rPr lang="en" dirty="0" err="1">
                <a:solidFill>
                  <a:srgbClr val="002060"/>
                </a:solidFill>
              </a:rPr>
              <a:t>ChatGPT</a:t>
            </a:r>
            <a:r>
              <a:rPr lang="en" dirty="0">
                <a:solidFill>
                  <a:srgbClr val="002060"/>
                </a:solidFill>
              </a:rPr>
              <a:t>-</a:t>
            </a:r>
            <a:r>
              <a:rPr lang="ru-RU" dirty="0">
                <a:solidFill>
                  <a:srgbClr val="002060"/>
                </a:solidFill>
              </a:rPr>
              <a:t>ассистента для подсказок и анализа.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Расширение набора категорий и стилей визуализации.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Улучшенный механизм экспорта и синхронизации данных.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• Масштабирование логики и подготовка к возможной публикации.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967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>
                <a:solidFill>
                  <a:srgbClr val="F0F0F0"/>
                </a:solidFill>
              </a:defRPr>
            </a:pPr>
            <a:r>
              <a:rPr lang="en" dirty="0" err="1">
                <a:solidFill>
                  <a:srgbClr val="002060"/>
                </a:solidFill>
              </a:rPr>
              <a:t>Coinly</a:t>
            </a:r>
            <a:r>
              <a:rPr lang="en" dirty="0">
                <a:solidFill>
                  <a:srgbClr val="002060"/>
                </a:solidFill>
              </a:rPr>
              <a:t> — </a:t>
            </a:r>
            <a:r>
              <a:rPr lang="ru-RU" dirty="0">
                <a:solidFill>
                  <a:srgbClr val="002060"/>
                </a:solidFill>
              </a:rPr>
              <a:t>это современное, функциональное и технически грамотное решение для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пользователей, желающих контролировать свои финансы. Приложение сочетает продуманную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архитектуру, удобство интерфейса, гибкость пользовательских настроек и широкие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возможности аналитики. Реализованный функционал и технологическая база позволяют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надёжно развивать проект дальше и расширять его возможности.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967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524</Words>
  <Application>Microsoft Macintosh PowerPoint</Application>
  <PresentationFormat>Экран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Coinly</vt:lpstr>
      <vt:lpstr>План проекта </vt:lpstr>
      <vt:lpstr>План проекта </vt:lpstr>
      <vt:lpstr>Идея и цель проекта</vt:lpstr>
      <vt:lpstr>Основной функционал</vt:lpstr>
      <vt:lpstr>Архитектура проекта</vt:lpstr>
      <vt:lpstr>Используемые технологии</vt:lpstr>
      <vt:lpstr>Демонстрация приложения</vt:lpstr>
      <vt:lpstr>Планы развития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Coinly</dc:title>
  <dc:subject/>
  <dc:creator/>
  <cp:keywords/>
  <dc:description>generated using python-pptx</dc:description>
  <cp:lastModifiedBy>Narine Isaakyan</cp:lastModifiedBy>
  <cp:revision>4</cp:revision>
  <dcterms:created xsi:type="dcterms:W3CDTF">2013-01-27T09:14:16Z</dcterms:created>
  <dcterms:modified xsi:type="dcterms:W3CDTF">2025-11-28T13:26:24Z</dcterms:modified>
  <cp:category/>
</cp:coreProperties>
</file>